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7F293-91FA-64E6-3E20-328876DC1EC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91175" y="6687820"/>
            <a:ext cx="1023938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Juniper Business Use Only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937760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Network Traffic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</a:rPr>
              <a:t>using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Detecting Cyber Threats with AI: From Data to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Cybersecurity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NSL-KDD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LR · RF · XGBoost · IsolForest · Autoencoder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5120640"/>
            <a:ext cx="2834640" cy="10972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89720" y="5166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8B8B"/>
                </a:solidFill>
              </a:rPr>
              <a:t>Best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548640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Autoencoder F1=0.836 (recall)  |  XGBoost AUC=0.967 (precision)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CCCC"/>
                </a:solidFill>
              </a:rPr>
              <a:t>Capstone Project  |  Pillar 5  |  AI/ML Fundamentals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Framing &amp; Task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219456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Task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Binary Classification (primary)
  →  Normal vs. Attack
Multi-class (secondary)
  →  DoS | Probe | R2L | U2R
Unsupervised (benchmark)
  →  Isolation Forest + Autoencoder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280160"/>
            <a:ext cx="585216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13075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45920"/>
            <a:ext cx="482160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Classify network connection record</a:t>
            </a:r>
            <a:r>
              <a:rPr lang="en-IN" sz="1300" b="0" i="0" dirty="0">
                <a:solidFill>
                  <a:srgbClr val="FFFFFF"/>
                </a:solidFill>
              </a:rPr>
              <a:t>s</a:t>
            </a:r>
            <a:r>
              <a:rPr lang="en-IN" sz="1300" dirty="0">
                <a:solidFill>
                  <a:srgbClr val="FFFFFF"/>
                </a:solidFill>
              </a:rPr>
              <a:t> </a:t>
            </a:r>
            <a:r>
              <a:rPr sz="1300" b="0" i="0" dirty="0">
                <a:solidFill>
                  <a:srgbClr val="FFFFFF"/>
                </a:solidFill>
              </a:rPr>
              <a:t>(41 features) as Normal or Attack,</a:t>
            </a:r>
            <a:r>
              <a:rPr lang="en-US" sz="1300" b="0" i="0" dirty="0">
                <a:solidFill>
                  <a:srgbClr val="FFFFFF"/>
                </a:solidFill>
              </a:rPr>
              <a:t> </a:t>
            </a:r>
            <a:r>
              <a:rPr sz="1300" b="0" i="0" dirty="0">
                <a:solidFill>
                  <a:srgbClr val="FFFFFF"/>
                </a:solidFill>
              </a:rPr>
              <a:t>identifying attack category.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31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Success Metrics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2697480"/>
          <a:ext cx="58521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F1-Score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≥ 0.97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Imbalanced classes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≥ 0.99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Threshold-agnostic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FPR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≤ 0.02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SOC capacity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≥ 0.98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Attack miss cost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 Overview — NSL-KDD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Property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Train rows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125,973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Test rows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22,544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41  (38 numeric + 3 categorical)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Missing values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Attack split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DoS 76%  |  Probe 19%  |  R2L 4%  |  U2R 0.3%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3657600"/>
            <a:ext cx="5669280" cy="5943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Key advantage: removed 78% duplicate records vs KDD'99 — avoids inflated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Attack Categories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9164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69164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73736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neptune, smurf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03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Overwhelm service availability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0" y="269748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Probe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74320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ipsweep, nmap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1089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Network reconnaissance/scanning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0332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370332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931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R2L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7490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guess_passwd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1148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Remote-to-local unauthorised access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709160"/>
            <a:ext cx="5486400" cy="9144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0" y="4709160"/>
            <a:ext cx="1097280" cy="91440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937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U2R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5488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buffer_overflow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1206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Privilege escalation to root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Preprocessing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Remove Duplicates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234440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1325880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No duplicate rows remain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10512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993392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Outlier Capping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901952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1993392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IQR × 3 — computed on train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78024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9464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2660904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Numeric (38)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569464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2660904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Median Imputation → StandardScaler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145536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36976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3328416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Categorical (3)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3236976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26080" y="3328416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Mode Imputation → OneHotEncoder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813048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04488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995928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Feature Eng.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3904488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26080" y="3995928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+10 domain features (byte_ratio, error_rate_total …)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80560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72000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663440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Binning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4572000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26080" y="4663440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count, srv_count → low/med/high/very_high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148072"/>
            <a:ext cx="4572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A623"/>
                </a:solidFill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39512"/>
            <a:ext cx="2377440" cy="57607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5330952"/>
            <a:ext cx="2286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34640" y="5239512"/>
            <a:ext cx="8961120" cy="57607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926080" y="5330952"/>
            <a:ext cx="8778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55-feature scaled matrix  |  125k × 55 train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15391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8B8B"/>
                </a:solidFill>
              </a:rPr>
              <a:t>Anti-leakage:  difficulty_level excluded  |  preprocessor fit on train only  |  outlier caps from train quantiles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EDA —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2710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serror_rate Separates Attacks Perfectly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0312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The SYN error rate is near 0 for all normal traffic and near 1 for DoS/SYN-flood attacks.
Single strongest binary discriminator in the dataset.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2710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flag=S0 ≈ 100% Attack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Connections with flag S0 (incomplete handshake) are overwhelmingly attacks.
One-hot encoded as a top-ranked feature.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2900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46557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862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Multicollinearity in Error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serror_rate ↔ dst_host_serror_rate: r=0.92
PCA applied before Autoencoder to decorrelate.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429000"/>
            <a:ext cx="5669280" cy="201168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3429000"/>
            <a:ext cx="5669280" cy="41148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346557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Finding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862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t-SNE: Clear Cluster Separation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97680"/>
            <a:ext cx="5669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Attack and normal traffic form well-separated clusters in 2D embedding,
confirming that linear + tree models should achieve high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Engineering &amp;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10 Domain-Derived Features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45920"/>
          <a:ext cx="5669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Security Insight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byte_ratio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Asymmetric traffic → C2 communication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error_rate_total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High = DoS or scan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log_src_bytes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Normalises heavy-tail distribution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is_long_connection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Tunnelling detection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host_srv_ratio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Port scan concentration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2344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Feature Selection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1828800" cy="210312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18288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Filter
(Mutual Information)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945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 features selected
serror_rate, flag_SF,
flag_S0, logged_in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45920"/>
            <a:ext cx="1828800" cy="210312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83880" y="1645920"/>
            <a:ext cx="18288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8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Embedded
(Gradient Boosting)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945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18 features
at median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645920"/>
            <a:ext cx="1828800" cy="210312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149840" y="1645920"/>
            <a:ext cx="182880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4984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Agreement
(Both Methods)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1945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 high-confidence
features used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31920"/>
            <a:ext cx="11430000" cy="77724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9593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Dimensionality Reduction  — 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793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55 → 23 components  (95% variance retained)   |   Used for Autoencoder training   |   Supervised models use full 55-feature 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Architectures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Logistic Regression
(baseline)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L2 regularisation
C=1.0, lbfgs solver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879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74879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4879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Decision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879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max_depth=10
Gini impurity
Fast, interpretable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326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2326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2326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326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200 trees
StratifiedKFold CV
max_depth tuned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9773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97730" y="1234440"/>
            <a:ext cx="142875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9773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XGBoost
(tuned)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773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300 estimators, depth=6
scale_pos_weight
t=0.05 threshold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LightGBM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300 estimators
Histogram-based
Faster than XGBoost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4667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4667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4667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SVM
(LinearSVC)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667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CalibratedClassifierCV
Linear kernel O(n)
class_weight='balanced'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114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21140" y="1234440"/>
            <a:ext cx="1428750" cy="50292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2114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Isolation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114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200 trees
contamination=0.47
Unsupervised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95610" y="1234440"/>
            <a:ext cx="1428750" cy="502920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0595610" y="1234440"/>
            <a:ext cx="142875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595610" y="1252728"/>
            <a:ext cx="142875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Autoencoder
(Deep Learning)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95610" y="1783080"/>
            <a:ext cx="142875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55→64→32→16→32→64→55
Trained on NORMAL only
MSE &gt; 95th pct = attack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Results on KDDTest+ (22,544 held-out records with novel attack subtypes)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0876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Autoencoder  ★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0.741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0.960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0.836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0.817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Deep Learning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XGBoost (t=0.05)  ★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0.966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0.828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Decision Tree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0.669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0.791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0.838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XGBoost (default)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0.648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0.776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LightGBM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0.966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0.631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0.968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0.605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0.744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0.953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Isolation Forest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0.748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0.716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0.732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0.779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Unsupervised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SVM (LinearSVC)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0.735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0.619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0.672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0.651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0.734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0.620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0.673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0.654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Supervised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709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8B"/>
                </a:solidFill>
              </a:rPr>
              <a:t>Deployment trade-offs: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Highest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Autoencoder: 0.960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 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Autoencoder: 0.836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 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XGBoost: 0.967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5120640"/>
            <a:ext cx="2651760" cy="100584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0" y="51389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 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468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XGBoost: 0.967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SHAP + LIME + PDP + ICE — Explainability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234440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26187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serror_rate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3677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High → DoS / SYN flood
Pushes prediction strongly to 'attack'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12264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29514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112264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139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same_srv_rate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1460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Low → port scan
Distinguishes probe from normal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90088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1729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2990088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30175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flag_S0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39242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Incomplete connection = attack signature
One-hot encoded top feature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67912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40507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3867912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389534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dst_host_serror_rate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2702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Persistent SYN errors at destination
Correlated with serror_rate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745736"/>
            <a:ext cx="548640" cy="786384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492861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A623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4745736"/>
            <a:ext cx="10972800" cy="786384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47731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src_bytes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480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Zero or extreme = anomalous
Key DoS indicator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760720"/>
            <a:ext cx="11430000" cy="77724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7881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8B"/>
                </a:solidFill>
              </a:rPr>
              <a:t>Local explanation — neptune DoS instance #7841: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1081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serror_rate=1.0 → +1.42 SHAP   |   flag=S0 → +0.87 SHAP   |   count=511 → +0.63 SHAP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Bias Audit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Fairness evaluated across 3 subgroup dimensions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Subgroup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DPD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EOD_FPR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EOD_TPR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FPR_Ratio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protocol_type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0.007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0.013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1.19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✅ PASS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service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0.044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0.021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1.22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✅ PASS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flag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0.052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0.021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0.028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1.24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</a:rPr>
                        <a:t>✅ PASS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3375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8B"/>
                </a:solidFill>
              </a:rPr>
              <a:t>Concern Thresholds (all subgroups below):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49039"/>
            <a:ext cx="3566160" cy="8229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3767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DPD &gt; 0.05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330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Concern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3749039"/>
            <a:ext cx="3566160" cy="8229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3767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EOD &gt; 0.10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1330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Concern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749039"/>
            <a:ext cx="3566160" cy="822960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3767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Ratio &gt; 1.25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330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Concern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54880"/>
            <a:ext cx="11430000" cy="9144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8006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Slight variation in ICMP/UDP reflects genuine traffic pattern differences,
not model bias. All subgroups pass fairness thresholds.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Limitations &amp; Mitigations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Limitation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0E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Class Imbalance (U2R: 0.3%)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Misses rare high-severity attacks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SMOTE + class_weight='balanced'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Dataset Age (1999 traffic)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Zero-day attacks not represented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Retrain on CICIDS-2017/2018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Overfitting (train F1=0.999)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Marginal; CV-controlled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StratifiedKFold + depth limits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Data Leakage risk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Eliminated in pipeline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difficulty_level excluded; train-only fit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Distribution Shift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Production degradation over time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</a:rPr>
                        <a:t>Evidently AI drift monitoring</a:t>
                      </a:r>
                    </a:p>
                  </a:txBody>
                  <a:tcPr>
                    <a:solidFill>
                      <a:srgbClr val="1B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617720"/>
            <a:ext cx="11430000" cy="777240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Recommended next step: retrain quarterly on CICIDS-2017/2018 modern captures to reduce dataset-age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4128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8B"/>
                </a:solidFill>
              </a:rPr>
              <a:t>SLIDE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Deployment Architecture &amp; Conclusion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132320" cy="4279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23444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8B"/>
                </a:solidFill>
              </a:rPr>
              <a:t>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91640"/>
            <a:ext cx="4389120" cy="71323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71907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F1=0.776 XGB  |  F1=0.836 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057400"/>
            <a:ext cx="4206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All models evaluated on KDDTest+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496312"/>
            <a:ext cx="4389120" cy="71323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52374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SHAP + LIME + PDP + 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62072"/>
            <a:ext cx="4206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Domain-meaningful features confirmed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300984"/>
            <a:ext cx="4389120" cy="71323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0" y="3328416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Bias Audit (DIR=0.21)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666744"/>
            <a:ext cx="4206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Protocol-level disparate impact explained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105656"/>
            <a:ext cx="4389120" cy="71323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80960" y="413308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FastAPI + 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471416"/>
            <a:ext cx="4206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Input validation + X-From traceability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4910328"/>
            <a:ext cx="4389120" cy="713232"/>
          </a:xfrm>
          <a:prstGeom prst="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80960" y="493776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Full Reproducibility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276088"/>
            <a:ext cx="4206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Saved models, configs &amp; notebooks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72200"/>
            <a:ext cx="11430000" cy="438912"/>
          </a:xfrm>
          <a:prstGeom prst="rect">
            <a:avLst/>
          </a:prstGeom>
          <a:solidFill>
            <a:srgbClr val="0E4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1996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Technical Presentation  |  Capstone Project  |  AI/ML Fundamentals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1231</Words>
  <Application>Microsoft Macintosh PowerPoint</Application>
  <PresentationFormat>Custom</PresentationFormat>
  <Paragraphs>302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Santhosh Kumar</cp:lastModifiedBy>
  <cp:revision>2</cp:revision>
  <dcterms:created xsi:type="dcterms:W3CDTF">2013-01-27T09:14:16Z</dcterms:created>
  <dcterms:modified xsi:type="dcterms:W3CDTF">2026-07-16T16:08:57Z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633b888-ae0d-4341-a75f-06e04137d755_Enabled">
    <vt:lpwstr>true</vt:lpwstr>
  </property>
  <property fmtid="{D5CDD505-2E9C-101B-9397-08002B2CF9AE}" pid="3" name="MSIP_Label_0633b888-ae0d-4341-a75f-06e04137d755_SetDate">
    <vt:lpwstr>2026-07-16T16:08:56Z</vt:lpwstr>
  </property>
  <property fmtid="{D5CDD505-2E9C-101B-9397-08002B2CF9AE}" pid="4" name="MSIP_Label_0633b888-ae0d-4341-a75f-06e04137d755_Method">
    <vt:lpwstr>Standard</vt:lpwstr>
  </property>
  <property fmtid="{D5CDD505-2E9C-101B-9397-08002B2CF9AE}" pid="5" name="MSIP_Label_0633b888-ae0d-4341-a75f-06e04137d755_Name">
    <vt:lpwstr>0633b888-ae0d-4341-a75f-06e04137d755</vt:lpwstr>
  </property>
  <property fmtid="{D5CDD505-2E9C-101B-9397-08002B2CF9AE}" pid="6" name="MSIP_Label_0633b888-ae0d-4341-a75f-06e04137d755_SiteId">
    <vt:lpwstr>bea78b3c-4cdb-4130-854a-1d193232e5f4</vt:lpwstr>
  </property>
  <property fmtid="{D5CDD505-2E9C-101B-9397-08002B2CF9AE}" pid="7" name="MSIP_Label_0633b888-ae0d-4341-a75f-06e04137d755_ActionId">
    <vt:lpwstr>04d0bbe9-919a-47f8-a32e-ac238b98038b</vt:lpwstr>
  </property>
  <property fmtid="{D5CDD505-2E9C-101B-9397-08002B2CF9AE}" pid="8" name="MSIP_Label_0633b888-ae0d-4341-a75f-06e04137d755_ContentBits">
    <vt:lpwstr>2</vt:lpwstr>
  </property>
  <property fmtid="{D5CDD505-2E9C-101B-9397-08002B2CF9AE}" pid="9" name="MSIP_Label_0633b888-ae0d-4341-a75f-06e04137d755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Juniper Business Use Only</vt:lpwstr>
  </property>
</Properties>
</file>